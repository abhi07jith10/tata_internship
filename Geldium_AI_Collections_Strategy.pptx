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3" r:id="rId19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  <Relationship Id="rId19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dirty="0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dirty="0"/>
              <a:t>Four stages: data in, decision, action, learning. The Task 2 risk score is the main input to the decision engine. Outcomes feed back so the system improves every cycle.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dirty="0"/>
              <a:t>Agentic AI handles routine, reversible actions and adapts to new data. Anything that materially affects a customer, or involves a dispute or vulnerability, goes to a person.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dirty="0"/>
              <a:t>These safeguards are built into the pipeline from day one, not added afterwards. Compliance, legal and risk teams are involved during design, and audits repeat on a schedule.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dirty="0"/>
              <a:t>Business KPIs on the left, customer outcomes on the right. Targets should be set from the Task 3 baseline so the numbers can be defended.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105" name="Card 1"/>
          <p:cNvSpPr/>
          <p:nvPr/>
        </p:nvSpPr>
        <p:spPr>
          <a:xfrm>
            <a:off x="387900" y="1480000"/>
            <a:ext cx="1979550" cy="29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06" name="Step badge 1"/>
          <p:cNvSpPr/>
          <p:nvPr/>
        </p:nvSpPr>
        <p:spPr>
          <a:xfrm>
            <a:off x="497900" y="1600000"/>
            <a:ext cx="400000" cy="40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2B45"/>
                </a:solidFill>
              </a:rPr>
              <a:t>1</a:t>
            </a:r>
          </a:p>
        </p:txBody>
      </p:sp>
      <p:sp>
        <p:nvSpPr>
          <p:cNvPr id="107" name="Step title 1"/>
          <p:cNvSpPr/>
          <p:nvPr/>
        </p:nvSpPr>
        <p:spPr>
          <a:xfrm>
            <a:off x="447900" y="2040000"/>
            <a:ext cx="185955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Data inputs</a:t>
            </a:r>
          </a:p>
        </p:txBody>
      </p:sp>
      <p:sp>
        <p:nvSpPr>
          <p:cNvPr id="108" name="Step text 1"/>
          <p:cNvSpPr/>
          <p:nvPr/>
        </p:nvSpPr>
        <p:spPr>
          <a:xfrm>
            <a:off x="447900" y="2440000"/>
            <a:ext cx="1859550" cy="19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Repayment history and missed payments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Credit utilization and debt-to-income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Account activity and CRM contact history</a:t>
            </a:r>
          </a:p>
        </p:txBody>
      </p:sp>
      <p:sp>
        <p:nvSpPr>
          <p:cNvPr id="109" name="Card 2"/>
          <p:cNvSpPr/>
          <p:nvPr/>
        </p:nvSpPr>
        <p:spPr>
          <a:xfrm>
            <a:off x="2517450" y="1480000"/>
            <a:ext cx="1979550" cy="29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10" name="Step badge 2"/>
          <p:cNvSpPr/>
          <p:nvPr/>
        </p:nvSpPr>
        <p:spPr>
          <a:xfrm>
            <a:off x="2627450" y="1600000"/>
            <a:ext cx="400000" cy="40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2B45"/>
                </a:solidFill>
              </a:rPr>
              <a:t>2</a:t>
            </a:r>
          </a:p>
        </p:txBody>
      </p:sp>
      <p:sp>
        <p:nvSpPr>
          <p:cNvPr id="111" name="Step title 2"/>
          <p:cNvSpPr/>
          <p:nvPr/>
        </p:nvSpPr>
        <p:spPr>
          <a:xfrm>
            <a:off x="2577450" y="2040000"/>
            <a:ext cx="185955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Decision engine</a:t>
            </a:r>
          </a:p>
        </p:txBody>
      </p:sp>
      <p:sp>
        <p:nvSpPr>
          <p:cNvPr id="112" name="Step text 2"/>
          <p:cNvSpPr/>
          <p:nvPr/>
        </p:nvSpPr>
        <p:spPr>
          <a:xfrm>
            <a:off x="2577450" y="2440000"/>
            <a:ext cx="1859550" cy="19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Task 2 risk score plus business rules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Assigns a risk tier: low, medium or high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Picks the action, channel and timing</a:t>
            </a:r>
          </a:p>
        </p:txBody>
      </p:sp>
      <p:sp>
        <p:nvSpPr>
          <p:cNvPr id="113" name="Card 3"/>
          <p:cNvSpPr/>
          <p:nvPr/>
        </p:nvSpPr>
        <p:spPr>
          <a:xfrm>
            <a:off x="4647000" y="1480000"/>
            <a:ext cx="1979550" cy="29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14" name="Step badge 3"/>
          <p:cNvSpPr/>
          <p:nvPr/>
        </p:nvSpPr>
        <p:spPr>
          <a:xfrm>
            <a:off x="4757000" y="1600000"/>
            <a:ext cx="400000" cy="40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2B45"/>
                </a:solidFill>
              </a:rPr>
              <a:t>3</a:t>
            </a:r>
          </a:p>
        </p:txBody>
      </p:sp>
      <p:sp>
        <p:nvSpPr>
          <p:cNvPr id="115" name="Step title 3"/>
          <p:cNvSpPr/>
          <p:nvPr/>
        </p:nvSpPr>
        <p:spPr>
          <a:xfrm>
            <a:off x="4707000" y="2040000"/>
            <a:ext cx="185955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Action layer</a:t>
            </a:r>
          </a:p>
        </p:txBody>
      </p:sp>
      <p:sp>
        <p:nvSpPr>
          <p:cNvPr id="116" name="Step text 3"/>
          <p:cNvSpPr/>
          <p:nvPr/>
        </p:nvSpPr>
        <p:spPr>
          <a:xfrm>
            <a:off x="4707000" y="2440000"/>
            <a:ext cx="1859550" cy="19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SMS or email reminders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Payment plan or deferral offers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Escalation to a human agent</a:t>
            </a:r>
          </a:p>
        </p:txBody>
      </p:sp>
      <p:sp>
        <p:nvSpPr>
          <p:cNvPr id="117" name="Card 4"/>
          <p:cNvSpPr/>
          <p:nvPr/>
        </p:nvSpPr>
        <p:spPr>
          <a:xfrm>
            <a:off x="6776550" y="1480000"/>
            <a:ext cx="1979550" cy="29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18" name="Step badge 4"/>
          <p:cNvSpPr/>
          <p:nvPr/>
        </p:nvSpPr>
        <p:spPr>
          <a:xfrm>
            <a:off x="6886550" y="1600000"/>
            <a:ext cx="400000" cy="4000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2B45"/>
                </a:solidFill>
              </a:rPr>
              <a:t>4</a:t>
            </a:r>
          </a:p>
        </p:txBody>
      </p:sp>
      <p:sp>
        <p:nvSpPr>
          <p:cNvPr id="119" name="Step title 4"/>
          <p:cNvSpPr/>
          <p:nvPr/>
        </p:nvSpPr>
        <p:spPr>
          <a:xfrm>
            <a:off x="6836550" y="2040000"/>
            <a:ext cx="185955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FFFF"/>
                </a:solidFill>
              </a:rPr>
              <a:t>Learning loop</a:t>
            </a:r>
          </a:p>
        </p:txBody>
      </p:sp>
      <p:sp>
        <p:nvSpPr>
          <p:cNvPr id="120" name="Step text 4"/>
          <p:cNvSpPr/>
          <p:nvPr/>
        </p:nvSpPr>
        <p:spPr>
          <a:xfrm>
            <a:off x="6836550" y="2440000"/>
            <a:ext cx="1859550" cy="19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Tracks repayment, response and cost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Tests which actions work best</a:t>
            </a:r>
          </a:p>
          <a:p>
            <a:pPr marL="171450" indent="-1714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GB" sz="1300" b="0" dirty="0">
                <a:solidFill>
                  <a:srgbClr val="FFFFFF"/>
                </a:solidFill>
              </a:rPr>
              <a:t>Feeds results back into step 2</a:t>
            </a:r>
          </a:p>
        </p:txBody>
      </p:sp>
      <p:sp>
        <p:nvSpPr>
          <p:cNvPr id="121" name="Feedback note"/>
          <p:cNvSpPr/>
          <p:nvPr/>
        </p:nvSpPr>
        <p:spPr>
          <a:xfrm>
            <a:off x="387900" y="4550000"/>
            <a:ext cx="83682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Outcomes flow back into the decision engine, so each cycle improves the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graphicFrame>
        <p:nvGraphicFramePr>
          <p:cNvPr id="132" name="Autonomous vs Human Oversight"/>
          <p:cNvGraphicFramePr>
            <a:graphicFrameLocks noGrp="1"/>
          </p:cNvGraphicFramePr>
          <p:nvPr/>
        </p:nvGraphicFramePr>
        <p:xfrm>
          <a:off x="387900" y="1480000"/>
          <a:ext cx="8368200" cy="2400000"/>
        </p:xfrm>
        <a:graphic>
          <a:graphicData uri="http://schemas.openxmlformats.org/drawingml/2006/table">
            <a:tbl>
              <a:tblPr firstRow="1"/>
              <a:tblGrid>
                <a:gridCol w="4184100"/>
                <a:gridCol w="41841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solidFill>
                            <a:srgbClr val="002B45"/>
                          </a:solidFill>
                        </a:rPr>
                        <a:t>Autonomous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solidFill>
                            <a:srgbClr val="002B45"/>
                          </a:solidFill>
                        </a:rPr>
                        <a:t>Human oversight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39BE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Sending reminders; choosing channel and timing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Approving or denying hardship relief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Segmenting customers by risk tier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Disputes, complaints and appeals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Adjusting outreach cadence from response data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Vulnerable customers (job loss, illness)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Flagging edge cases for review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Legal or escalation actions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Monitoring performance and model drift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0" dirty="0">
                          <a:solidFill>
                            <a:srgbClr val="FFFFFF"/>
                          </a:solidFill>
                        </a:rPr>
                        <a:t>Pausing or overriding the AI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517C"/>
                      </a:solidFill>
                    </a:lnL>
                    <a:lnR w="12700">
                      <a:solidFill>
                        <a:srgbClr val="00517C"/>
                      </a:solidFill>
                    </a:lnR>
                    <a:lnT w="12700">
                      <a:solidFill>
                        <a:srgbClr val="00517C"/>
                      </a:solidFill>
                    </a:lnT>
                    <a:lnB w="12700">
                      <a:solidFill>
                        <a:srgbClr val="00517C"/>
                      </a:solidFill>
                    </a:lnB>
                    <a:solidFill>
                      <a:srgbClr val="004065"/>
                    </a:solidFill>
                  </a:tcPr>
                </a:tc>
              </a:tr>
            </a:tbl>
          </a:graphicData>
        </a:graphic>
      </p:graphicFrame>
      <p:sp>
        <p:nvSpPr>
          <p:cNvPr id="133" name="Principle"/>
          <p:cNvSpPr/>
          <p:nvPr/>
        </p:nvSpPr>
        <p:spPr>
          <a:xfrm>
            <a:off x="387900" y="4130000"/>
            <a:ext cx="8368200" cy="520000"/>
          </a:xfrm>
          <a:prstGeom prst="roundRect">
            <a:avLst>
              <a:gd name="adj" fmla="val 20000"/>
            </a:avLst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8BC34A"/>
                </a:solidFill>
              </a:rPr>
              <a:t>The AI acts on low-impact, reversible decisions; humans own high-impact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134" name="Guardrail 1"/>
          <p:cNvSpPr/>
          <p:nvPr/>
        </p:nvSpPr>
        <p:spPr>
          <a:xfrm>
            <a:off x="387900" y="1480000"/>
            <a:ext cx="4109100" cy="13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500" b="1" dirty="0">
                <a:solidFill>
                  <a:srgbClr val="8BC34A"/>
                </a:solidFill>
              </a:rPr>
              <a:t>Fairness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Regular bias audits across age and income groups. No proxy variables such as location.</a:t>
            </a:r>
          </a:p>
        </p:txBody>
      </p:sp>
      <p:sp>
        <p:nvSpPr>
          <p:cNvPr id="135" name="Guardrail 2"/>
          <p:cNvSpPr/>
          <p:nvPr/>
        </p:nvSpPr>
        <p:spPr>
          <a:xfrm>
            <a:off x="4647000" y="1480000"/>
            <a:ext cx="4109100" cy="13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500" b="1" dirty="0">
                <a:solidFill>
                  <a:srgbClr val="8BC34A"/>
                </a:solidFill>
              </a:rPr>
              <a:t>Explainability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Plain-language reasons (SHAP) for every risk flag, logged for each decision.</a:t>
            </a:r>
          </a:p>
        </p:txBody>
      </p:sp>
      <p:sp>
        <p:nvSpPr>
          <p:cNvPr id="136" name="Guardrail 3"/>
          <p:cNvSpPr/>
          <p:nvPr/>
        </p:nvSpPr>
        <p:spPr>
          <a:xfrm>
            <a:off x="387900" y="2980000"/>
            <a:ext cx="4109100" cy="13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500" b="1" dirty="0">
                <a:solidFill>
                  <a:srgbClr val="8BC34A"/>
                </a:solidFill>
              </a:rPr>
              <a:t>Compliance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Aligned with FCA fair treatment, GDPR, ECOA and FCRA, with a full audit trail for regulators.</a:t>
            </a:r>
          </a:p>
        </p:txBody>
      </p:sp>
      <p:sp>
        <p:nvSpPr>
          <p:cNvPr id="137" name="Guardrail 4"/>
          <p:cNvSpPr/>
          <p:nvPr/>
        </p:nvSpPr>
        <p:spPr>
          <a:xfrm>
            <a:off x="4647000" y="2980000"/>
            <a:ext cx="4109100" cy="13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500" b="1" dirty="0">
                <a:solidFill>
                  <a:srgbClr val="8BC34A"/>
                </a:solidFill>
              </a:rPr>
              <a:t>Human oversight and appeal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People review high-impact and edge cases. Customers can challenge any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138" name="Impact card 1"/>
          <p:cNvSpPr/>
          <p:nvPr/>
        </p:nvSpPr>
        <p:spPr>
          <a:xfrm>
            <a:off x="387900" y="1480000"/>
            <a:ext cx="4109100" cy="230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39" name="Impact header 1"/>
          <p:cNvSpPr/>
          <p:nvPr/>
        </p:nvSpPr>
        <p:spPr>
          <a:xfrm>
            <a:off x="387900" y="1480000"/>
            <a:ext cx="4109100" cy="430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2B45"/>
                </a:solidFill>
              </a:rPr>
              <a:t>Business KPIs</a:t>
            </a:r>
          </a:p>
        </p:txBody>
      </p:sp>
      <p:sp>
        <p:nvSpPr>
          <p:cNvPr id="140" name="Impact list 1"/>
          <p:cNvSpPr/>
          <p:nvPr/>
        </p:nvSpPr>
        <p:spPr>
          <a:xfrm>
            <a:off x="427900" y="2000000"/>
            <a:ext cx="4029100" cy="175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Delinquency rate: down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Recovery and cure rate: up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Cost per collection: down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Agent productivity: up</a:t>
            </a:r>
          </a:p>
        </p:txBody>
      </p:sp>
      <p:sp>
        <p:nvSpPr>
          <p:cNvPr id="141" name="Impact card 2"/>
          <p:cNvSpPr/>
          <p:nvPr/>
        </p:nvSpPr>
        <p:spPr>
          <a:xfrm>
            <a:off x="4647000" y="1480000"/>
            <a:ext cx="4109100" cy="230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42" name="Impact header 2"/>
          <p:cNvSpPr/>
          <p:nvPr/>
        </p:nvSpPr>
        <p:spPr>
          <a:xfrm>
            <a:off x="4647000" y="1480000"/>
            <a:ext cx="4109100" cy="430000"/>
          </a:xfrm>
          <a:prstGeom prst="rect">
            <a:avLst/>
          </a:prstGeom>
          <a:solidFill>
            <a:srgbClr val="039BE5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2B45"/>
                </a:solidFill>
              </a:rPr>
              <a:t>Customer outcomes</a:t>
            </a:r>
          </a:p>
        </p:txBody>
      </p:sp>
      <p:sp>
        <p:nvSpPr>
          <p:cNvPr id="143" name="Impact list 2"/>
          <p:cNvSpPr/>
          <p:nvPr/>
        </p:nvSpPr>
        <p:spPr>
          <a:xfrm>
            <a:off x="4687000" y="2000000"/>
            <a:ext cx="4029100" cy="1750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Earlier, more supportive contact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Fewer unnecessary or aggressive calls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Fair, explainable treatment</a:t>
            </a:r>
          </a:p>
          <a:p>
            <a:pPr marL="171450" indent="-1714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GB" sz="1400" b="0" dirty="0">
                <a:solidFill>
                  <a:srgbClr val="FFFFFF"/>
                </a:solidFill>
              </a:rPr>
              <a:t>Easier access to hardship options</a:t>
            </a:r>
          </a:p>
        </p:txBody>
      </p:sp>
      <p:sp>
        <p:nvSpPr>
          <p:cNvPr id="144" name="Targets note"/>
          <p:cNvSpPr/>
          <p:nvPr/>
        </p:nvSpPr>
        <p:spPr>
          <a:xfrm>
            <a:off x="387900" y="3930000"/>
            <a:ext cx="83682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CFD8DC"/>
                </a:solidFill>
              </a:rPr>
              <a:t>Targets to be set against the baseline from the Task 3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Logic: Action by Risk Tier</a:t>
            </a:r>
            <a:endParaRPr/>
          </a:p>
        </p:txBody>
      </p:sp>
      <p:sp>
        <p:nvSpPr>
          <p:cNvPr id="122" name="Tier card 1"/>
          <p:cNvSpPr/>
          <p:nvPr/>
        </p:nvSpPr>
        <p:spPr>
          <a:xfrm>
            <a:off x="387900" y="1480000"/>
            <a:ext cx="2689400" cy="28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23" name="Tier header 1"/>
          <p:cNvSpPr/>
          <p:nvPr/>
        </p:nvSpPr>
        <p:spPr>
          <a:xfrm>
            <a:off x="387900" y="1480000"/>
            <a:ext cx="2689400" cy="430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2B45"/>
                </a:solidFill>
              </a:rPr>
              <a:t>Low risk</a:t>
            </a:r>
          </a:p>
        </p:txBody>
      </p:sp>
      <p:sp>
        <p:nvSpPr>
          <p:cNvPr id="124" name="Tier text 1"/>
          <p:cNvSpPr/>
          <p:nvPr/>
        </p:nvSpPr>
        <p:spPr>
          <a:xfrm>
            <a:off x="417900" y="1980000"/>
            <a:ext cx="2629400" cy="230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80000" rIns="80000" bIns="8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Signals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On-time payer, stable utilization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Automated action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Friendly reminder before the due date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Human role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None; monitored in reports</a:t>
            </a:r>
          </a:p>
        </p:txBody>
      </p:sp>
      <p:sp>
        <p:nvSpPr>
          <p:cNvPr id="125" name="Tier card 2"/>
          <p:cNvSpPr/>
          <p:nvPr/>
        </p:nvSpPr>
        <p:spPr>
          <a:xfrm>
            <a:off x="3227300" y="1480000"/>
            <a:ext cx="2689400" cy="28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26" name="Tier header 2"/>
          <p:cNvSpPr/>
          <p:nvPr/>
        </p:nvSpPr>
        <p:spPr>
          <a:xfrm>
            <a:off x="3227300" y="1480000"/>
            <a:ext cx="2689400" cy="430000"/>
          </a:xfrm>
          <a:prstGeom prst="rect">
            <a:avLst/>
          </a:prstGeom>
          <a:solidFill>
            <a:srgbClr val="039BE5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2B45"/>
                </a:solidFill>
              </a:rPr>
              <a:t>Medium risk</a:t>
            </a:r>
          </a:p>
        </p:txBody>
      </p:sp>
      <p:sp>
        <p:nvSpPr>
          <p:cNvPr id="127" name="Tier text 2"/>
          <p:cNvSpPr/>
          <p:nvPr/>
        </p:nvSpPr>
        <p:spPr>
          <a:xfrm>
            <a:off x="3257300" y="1980000"/>
            <a:ext cx="2629400" cy="230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80000" rIns="80000" bIns="8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Signals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First missed payment or rising utilization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Automated action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Personalized SMS or email; timing and channel from past response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Human role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Periodic sample review</a:t>
            </a:r>
          </a:p>
        </p:txBody>
      </p:sp>
      <p:sp>
        <p:nvSpPr>
          <p:cNvPr id="128" name="Tier card 3"/>
          <p:cNvSpPr/>
          <p:nvPr/>
        </p:nvSpPr>
        <p:spPr>
          <a:xfrm>
            <a:off x="6066700" y="1480000"/>
            <a:ext cx="2689400" cy="2850000"/>
          </a:xfrm>
          <a:prstGeom prst="rect">
            <a:avLst/>
          </a:prstGeom>
          <a:solidFill>
            <a:srgbClr val="00406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GB"/>
          </a:p>
        </p:txBody>
      </p:sp>
      <p:sp>
        <p:nvSpPr>
          <p:cNvPr id="129" name="Tier header 3"/>
          <p:cNvSpPr/>
          <p:nvPr/>
        </p:nvSpPr>
        <p:spPr>
          <a:xfrm>
            <a:off x="6066700" y="1480000"/>
            <a:ext cx="2689400" cy="430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002B45"/>
                </a:solidFill>
              </a:rPr>
              <a:t>High risk</a:t>
            </a:r>
          </a:p>
        </p:txBody>
      </p:sp>
      <p:sp>
        <p:nvSpPr>
          <p:cNvPr id="130" name="Tier text 3"/>
          <p:cNvSpPr/>
          <p:nvPr/>
        </p:nvSpPr>
        <p:spPr>
          <a:xfrm>
            <a:off x="6096700" y="1980000"/>
            <a:ext cx="2629400" cy="230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80000" rIns="80000" bIns="800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Signals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Repeated missed payments, high debt-to-income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Automated action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Early offer of a payment plan or deferral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300" b="1" dirty="0">
                <a:solidFill>
                  <a:srgbClr val="8BC34A"/>
                </a:solidFill>
              </a:rPr>
              <a:t>Human role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300" b="0" dirty="0">
                <a:solidFill>
                  <a:srgbClr val="FFFFFF"/>
                </a:solidFill>
              </a:rPr>
              <a:t>Agent contacts customer and approves relief</a:t>
            </a:r>
          </a:p>
        </p:txBody>
      </p:sp>
      <p:sp>
        <p:nvSpPr>
          <p:cNvPr id="131" name="Tier note"/>
          <p:cNvSpPr/>
          <p:nvPr/>
        </p:nvSpPr>
        <p:spPr>
          <a:xfrm>
            <a:off x="387900" y="4430000"/>
            <a:ext cx="8368200" cy="3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rgbClr val="CFD8DC"/>
                </a:solidFill>
              </a:rPr>
              <a:t>Tiers come from the Task 2 risk score combined with business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